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D700"/>
                </a:solidFill>
                <a:latin typeface="맑은 고딕"/>
              </a:rPr>
              <a:t>벌툰 SNS 채널 운영 기획안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834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FFFFFF"/>
                </a:solidFill>
                <a:latin typeface="맑은 고딕"/>
              </a:rPr>
              <a:t>📱 3-Line 세그먼트 전략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56616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CCCCC"/>
                </a:solidFill>
                <a:latin typeface="맑은 고딕"/>
              </a:rPr>
              <a:t>"브랜딩으로 유입을 만들고, 중앙 라인에서 창업으로 전환시키는 자동화 구조"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943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맑은 고딕"/>
              </a:rPr>
              <a:t>벌툰 프랜차이즈  |  SNS 마케팅 전략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D700"/>
                </a:solidFill>
                <a:latin typeface="맑은 고딕"/>
              </a:rPr>
              <a:t>CONTENTS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8229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맑은 고딕"/>
              </a:rPr>
              <a:t>목차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1737360"/>
            <a:ext cx="640080" cy="5029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78816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A1A1A"/>
                </a:solidFill>
                <a:latin typeface="맑은 고딕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73736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맑은 고딕"/>
              </a:rPr>
              <a:t>전략 개요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173736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AAAAA"/>
                </a:solidFill>
                <a:latin typeface="맑은 고딕"/>
              </a:rPr>
              <a:t>3-Line 세그먼트 전략 핵심 구조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0" y="2450592"/>
            <a:ext cx="640080" cy="5029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501392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A1A1A"/>
                </a:solidFill>
                <a:latin typeface="맑은 고딕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450592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맑은 고딕"/>
              </a:rPr>
              <a:t>피드 레이아웃 설계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450592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AAAAA"/>
                </a:solidFill>
                <a:latin typeface="맑은 고딕"/>
              </a:rPr>
              <a:t>콘텐츠 역할 분리 (Layout)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3163824"/>
            <a:ext cx="640080" cy="5029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214624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A1A1A"/>
                </a:solidFill>
                <a:latin typeface="맑은 고딕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163824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맑은 고딕"/>
              </a:rPr>
              <a:t>브랜딩 콘텐츠 전략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3163824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AAAAA"/>
                </a:solidFill>
                <a:latin typeface="맑은 고딕"/>
              </a:rPr>
              <a:t>왼쪽/오른쪽 — 노란색 톤앤매너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05840" y="3877056"/>
            <a:ext cx="640080" cy="5029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3927856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A1A1A"/>
                </a:solidFill>
                <a:latin typeface="맑은 고딕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3877056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맑은 고딕"/>
              </a:rPr>
              <a:t>창업 콘텐츠 전략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0" y="3877056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AAAAA"/>
                </a:solidFill>
                <a:latin typeface="맑은 고딕"/>
              </a:rPr>
              <a:t>가운데 — 창업 전환 포맷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5840" y="4590288"/>
            <a:ext cx="640080" cy="5029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464108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A1A1A"/>
                </a:solidFill>
                <a:latin typeface="맑은 고딕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4590288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맑은 고딕"/>
              </a:rPr>
              <a:t>채택해야 하는 이유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4590288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AAAAA"/>
                </a:solidFill>
                <a:latin typeface="맑은 고딕"/>
              </a:rPr>
              <a:t>알고리즘·시각·전환 3대 근거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05840" y="5303520"/>
            <a:ext cx="640080" cy="5029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535432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A1A1A"/>
                </a:solidFill>
                <a:latin typeface="맑은 고딕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0" y="530352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맑은 고딕"/>
              </a:rPr>
              <a:t>최종 기대효과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35040" y="530352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AAAAA"/>
                </a:solidFill>
                <a:latin typeface="맑은 고딕"/>
              </a:rPr>
              <a:t>자동화 창업 전환 깔때기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16736"/>
            <a:ext cx="12188952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D700"/>
                </a:solidFill>
                <a:latin typeface="맑은 고딕"/>
              </a:rPr>
              <a:t>01  전략 개요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맑은 고딕"/>
              </a:rPr>
              <a:t>3-Line 세그먼트 전략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08760"/>
            <a:ext cx="3474720" cy="43891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508760"/>
            <a:ext cx="3474720" cy="914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LEFT
BRANDING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5603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1A1A"/>
                </a:solidFill>
                <a:latin typeface="맑은 고딕"/>
              </a:rPr>
              <a:t>브랜딩 콘텐츠
(노란색 톤앤매너)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38328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맑은 고딕"/>
              </a:rPr>
              <a:t>공감 밈 · 상황극 · 고객 시점
가볍고 재미있는 콘텐츠로
자연스러운 유입 창출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508760"/>
            <a:ext cx="3474720" cy="43891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508760"/>
            <a:ext cx="3474720" cy="914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A1A1A"/>
                </a:solidFill>
                <a:latin typeface="맑은 고딕"/>
              </a:rPr>
              <a:t>CENTER
CONVERSION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5603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창업 전환 콘텐츠
(검정색 포맷)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338328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  <a:latin typeface="맑은 고딕"/>
              </a:rPr>
              <a:t>자극적 카피 · 매장 영상
보조 메시지
창업 문의로 직결되는
전환 중심 구조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508760"/>
            <a:ext cx="3474720" cy="43891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1508760"/>
            <a:ext cx="3474720" cy="914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RIGHT
BRANDING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5603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1A1A"/>
                </a:solidFill>
                <a:latin typeface="맑은 고딕"/>
              </a:rPr>
              <a:t>브랜딩 콘텐츠
(노란색 톤앤매너)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338328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맑은 고딕"/>
              </a:rPr>
              <a:t>공감 밈 · 상황극 · 고객 시점
가볍고 재미있는 콘텐츠로
자연스러운 유입 창출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347472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맑은 고딕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8120" y="347472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맑은 고딕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080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D700"/>
                </a:solidFill>
                <a:latin typeface="맑은 고딕"/>
              </a:rPr>
              <a:t>유입 → 창업 전환 → 유입의 반복 자동화 구조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16736"/>
            <a:ext cx="12188952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D700"/>
                </a:solidFill>
                <a:latin typeface="맑은 고딕"/>
              </a:rPr>
              <a:t>02  피드 레이아웃 설계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맑은 고딕"/>
              </a:rPr>
              <a:t>콘텐츠 역할 분리 (Layout)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1554480"/>
            <a:ext cx="1234440" cy="13258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2011680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A1A1A"/>
                </a:solidFill>
                <a:latin typeface="맑은 고딕"/>
              </a:rPr>
              <a:t>🟡 브랜딩</a:t>
            </a:r>
          </a:p>
        </p:txBody>
      </p:sp>
      <p:sp>
        <p:nvSpPr>
          <p:cNvPr id="9" name="Rectangle 8"/>
          <p:cNvSpPr/>
          <p:nvPr/>
        </p:nvSpPr>
        <p:spPr>
          <a:xfrm>
            <a:off x="3136392" y="1554480"/>
            <a:ext cx="1234440" cy="13258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36392" y="2011680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D700"/>
                </a:solidFill>
                <a:latin typeface="맑은 고딕"/>
              </a:rPr>
              <a:t>⬛ 창업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43984" y="1554480"/>
            <a:ext cx="1234440" cy="13258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43984" y="2011680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A1A1A"/>
                </a:solidFill>
                <a:latin typeface="맑은 고딕"/>
              </a:rPr>
              <a:t>🟡 브랜딩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0" y="2953512"/>
            <a:ext cx="1234440" cy="13258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0" y="3410712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A1A1A"/>
                </a:solidFill>
                <a:latin typeface="맑은 고딕"/>
              </a:rPr>
              <a:t>🟡 브랜딩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36392" y="2953512"/>
            <a:ext cx="1234440" cy="13258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36392" y="3410712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D700"/>
                </a:solidFill>
                <a:latin typeface="맑은 고딕"/>
              </a:rPr>
              <a:t>⬛ 창업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43984" y="2953512"/>
            <a:ext cx="1234440" cy="13258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43984" y="3410712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A1A1A"/>
                </a:solidFill>
                <a:latin typeface="맑은 고딕"/>
              </a:rPr>
              <a:t>🟡 브랜딩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0" y="4352544"/>
            <a:ext cx="1234440" cy="13258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828800" y="4809744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A1A1A"/>
                </a:solidFill>
                <a:latin typeface="맑은 고딕"/>
              </a:rPr>
              <a:t>🟡 브랜딩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36392" y="4352544"/>
            <a:ext cx="1234440" cy="13258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36392" y="4809744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D700"/>
                </a:solidFill>
                <a:latin typeface="맑은 고딕"/>
              </a:rPr>
              <a:t>⬛ 창업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43984" y="4352544"/>
            <a:ext cx="1234440" cy="13258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43984" y="4809744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A1A1A"/>
                </a:solidFill>
                <a:latin typeface="맑은 고딕"/>
              </a:rPr>
              <a:t>🟡 브랜딩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1207008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[ 브랜딩 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36392" y="1207008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D700"/>
                </a:solidFill>
                <a:latin typeface="맑은 고딕"/>
              </a:rPr>
              <a:t>[ 창업 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43984" y="1207008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[ 브랜딩 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15544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D700"/>
                </a:solidFill>
                <a:latin typeface="맑은 고딕"/>
              </a:rPr>
              <a:t>피드 구성 원칙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0" y="2194560"/>
            <a:ext cx="54864" cy="6400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40880" y="219456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벌툰 노란색 톤앤매너 유지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254203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맑은 고딕"/>
              </a:rPr>
              <a:t>브랜딩 라인 전체에 통일된 노란색 컬러 적용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0" y="3108960"/>
            <a:ext cx="54864" cy="6400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40880" y="310896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중앙 라인 검정 포맷 고정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40880" y="345643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맑은 고딕"/>
              </a:rPr>
              <a:t>창업 콘텐츠는 상단·하단 검정 바 + 중앙 영상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58000" y="4023360"/>
            <a:ext cx="54864" cy="6400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40880" y="402336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3열 교차 배치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40880" y="437083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맑은 고딕"/>
              </a:rPr>
              <a:t>L-브랜딩 / C-창업 / R-브랜딩 의 반복 구조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858000" y="4937760"/>
            <a:ext cx="54864" cy="6400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040880" y="493776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Ad Fatigue 방지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40880" y="528523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맑은 고딕"/>
              </a:rPr>
              <a:t>동일 썸네일 반복 지양, 시각 다양성 확보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16736"/>
            <a:ext cx="12188952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D700"/>
                </a:solidFill>
                <a:latin typeface="맑은 고딕"/>
              </a:rPr>
              <a:t>03  브랜딩 콘텐츠 전략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왼쪽 / 오른쪽 라인  —  노란색 톤앤매너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54480"/>
            <a:ext cx="3474720" cy="475488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554480"/>
            <a:ext cx="3474720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609344"/>
            <a:ext cx="3474720" cy="914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A1A1A"/>
                </a:solidFill>
                <a:latin typeface="맑은 고딕"/>
              </a:rPr>
              <a:t>✔️  유형 1
공감 밈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743200"/>
            <a:ext cx="3108960" cy="50292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798064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맑은 고딕"/>
              </a:rPr>
              <a:t>"벌툰 가면 생기는 일"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337560"/>
            <a:ext cx="3108960" cy="50292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392424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맑은 고딕"/>
              </a:rPr>
              <a:t>"이거 공감하면 단골임"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069080"/>
            <a:ext cx="3108960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2062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D700"/>
                </a:solidFill>
                <a:latin typeface="맑은 고딕"/>
              </a:rPr>
              <a:t>👉 포인트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57200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  <a:latin typeface="맑은 고딕"/>
              </a:rPr>
              <a:t>텍스트 중심 · 가볍고 밈 느낌 · 광고 느낌 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1554480"/>
            <a:ext cx="3474720" cy="475488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97680" y="1554480"/>
            <a:ext cx="3474720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97680" y="1609344"/>
            <a:ext cx="3474720" cy="914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A1A1A"/>
                </a:solidFill>
                <a:latin typeface="맑은 고딕"/>
              </a:rPr>
              <a:t>✔️  유형 2
상황극 대화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80560" y="2743200"/>
            <a:ext cx="3108960" cy="50292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2798064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맑은 고딕"/>
              </a:rPr>
              <a:t>""야 너 또 왔냐""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3337560"/>
            <a:ext cx="3108960" cy="50292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0" y="3392424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맑은 고딕"/>
              </a:rPr>
              <a:t>""나 여기 거의 세입자임""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80560" y="4069080"/>
            <a:ext cx="3108960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80560" y="42062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D700"/>
                </a:solidFill>
                <a:latin typeface="맑은 고딕"/>
              </a:rPr>
              <a:t>👉 포인트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457200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  <a:latin typeface="맑은 고딕"/>
              </a:rPr>
              <a:t>캐릭터 대화 형식 · 기영이 스타일 · 공감 극대화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0" y="1554480"/>
            <a:ext cx="3474720" cy="475488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29600" y="1554480"/>
            <a:ext cx="3474720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29600" y="1609344"/>
            <a:ext cx="3474720" cy="914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A1A1A"/>
                </a:solidFill>
                <a:latin typeface="맑은 고딕"/>
              </a:rPr>
              <a:t>✔️  유형 3
고객 시점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412480" y="2743200"/>
            <a:ext cx="3108960" cy="50292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03920" y="2798064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맑은 고딕"/>
              </a:rPr>
              <a:t>"혼자 시간 보내기 최고인 이유"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412480" y="3337560"/>
            <a:ext cx="3108960" cy="50292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03920" y="3392424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맑은 고딕"/>
              </a:rPr>
              <a:t>"집보다 편한 곳"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412480" y="4069080"/>
            <a:ext cx="3108960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12480" y="42062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D700"/>
                </a:solidFill>
                <a:latin typeface="맑은 고딕"/>
              </a:rPr>
              <a:t>👉 포인트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0" y="457200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  <a:latin typeface="맑은 고딕"/>
              </a:rPr>
              <a:t>실제 고객 감성 · 1인칭 시점 · 자연스러운 공감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16736"/>
            <a:ext cx="12188952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D700"/>
                </a:solidFill>
                <a:latin typeface="맑은 고딕"/>
              </a:rPr>
              <a:t>04  창업 콘텐츠 전략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가운데 라인  —  창업 전환 포맷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554480"/>
            <a:ext cx="2926080" cy="4846320"/>
          </a:xfrm>
          <a:prstGeom prst="rect">
            <a:avLst/>
          </a:prstGeom>
          <a:solidFill>
            <a:srgbClr val="222222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45920"/>
            <a:ext cx="2743200" cy="11887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645920"/>
            <a:ext cx="2743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D700"/>
                </a:solidFill>
                <a:latin typeface="맑은 고딕"/>
              </a:rPr>
              <a:t>자극 카피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926080"/>
            <a:ext cx="2743200" cy="210312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6576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888888"/>
                </a:solidFill>
                <a:latin typeface="맑은 고딕"/>
              </a:rPr>
              <a:t>▶  매장 영상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120640"/>
            <a:ext cx="2743200" cy="11887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5120640"/>
            <a:ext cx="2743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보조 메시지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922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맑은 고딕"/>
              </a:rPr>
              <a:t>포맷 구조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155448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D700"/>
                </a:solidFill>
                <a:latin typeface="맑은 고딕"/>
              </a:rPr>
              <a:t>콘텐츠 예시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23360" y="2103120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AAAAA"/>
                </a:solidFill>
                <a:latin typeface="맑은 고딕"/>
              </a:rPr>
              <a:t>[ 자극 카피 예시 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23360" y="2487168"/>
            <a:ext cx="7772400" cy="50292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06240" y="2542032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"요즘 만화카페 창업 터지는 이유"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23360" y="3054096"/>
            <a:ext cx="7772400" cy="50292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6240" y="3108960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"이 구조라서 망할 수가 없음"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23360" y="3803904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AAAAA"/>
                </a:solidFill>
                <a:latin typeface="맑은 고딕"/>
              </a:rPr>
              <a:t>[ 보조 메시지 예시 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23360" y="4187952"/>
            <a:ext cx="7772400" cy="50292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06240" y="4242816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"초보도 운영 가능한 이유"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023360" y="4754880"/>
            <a:ext cx="7772400" cy="50292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06240" y="4809744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"지금 바로 확인해보세요"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23360" y="4389120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700"/>
                </a:solidFill>
                <a:latin typeface="맑은 고딕"/>
              </a:rPr>
              <a:t>포맷 원칙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23360" y="480060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  <a:latin typeface="맑은 고딕"/>
              </a:rPr>
              <a:t>▸  상단 검정 바  →  즉각적인 시선 집중과 자극 카피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23360" y="52120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  <a:latin typeface="맑은 고딕"/>
              </a:rPr>
              <a:t>▸  중앙 매장 영상  →  현실감 있는 사업 모델 전달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23360" y="562356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  <a:latin typeface="맑은 고딕"/>
              </a:rPr>
              <a:t>▸  하단 검정 바  →  행동 유도 메시지(CTA)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16736"/>
            <a:ext cx="12188952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D700"/>
                </a:solidFill>
                <a:latin typeface="맑은 고딕"/>
              </a:rPr>
              <a:t>05  채택해야 하는 이유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맑은 고딕"/>
              </a:rPr>
              <a:t>이 구조를 반드시 채택해야 하는 3가지 근거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54480"/>
            <a:ext cx="640080" cy="6400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5544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A1A1A"/>
                </a:solidFill>
                <a:latin typeface="맑은 고딕"/>
              </a:rPr>
              <a:t>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554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맑은 고딕"/>
              </a:rPr>
              <a:t>알고리즘 최적화 및 CTR 극대화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88720" y="2148840"/>
            <a:ext cx="3291840" cy="777240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88720" y="2148840"/>
            <a:ext cx="45720" cy="7772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5880" y="2240280"/>
            <a:ext cx="3063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  <a:latin typeface="맑은 고딕"/>
              </a:rPr>
              <a:t>반복 콘텐츠 판정 리스크 사전 차단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2148840"/>
            <a:ext cx="3291840" cy="777240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663440" y="2148840"/>
            <a:ext cx="45720" cy="7772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40280"/>
            <a:ext cx="3063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  <a:latin typeface="맑은 고딕"/>
              </a:rPr>
              <a:t>탐색탭 노출 시 즉각 반응 유도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2148840"/>
            <a:ext cx="3291840" cy="777240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2148840"/>
            <a:ext cx="45720" cy="7772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20" y="2240280"/>
            <a:ext cx="3063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  <a:latin typeface="맑은 고딕"/>
              </a:rPr>
              <a:t>Ad Fatigue 관리 → 지속적 클릭 유도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200400"/>
            <a:ext cx="640080" cy="6400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32004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A1A1A"/>
                </a:solidFill>
                <a:latin typeface="맑은 고딕"/>
              </a:rPr>
              <a:t>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32004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맑은 고딕"/>
              </a:rPr>
              <a:t>시각적 대비를 통한 창업 메시지 각인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88720" y="3794760"/>
            <a:ext cx="3291840" cy="777240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188720" y="3794760"/>
            <a:ext cx="45720" cy="7772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25880" y="3886200"/>
            <a:ext cx="3063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  <a:latin typeface="맑은 고딕"/>
              </a:rPr>
              <a:t>노란색(좌우) vs 검정(중앙) 강한 대비로 시선 고정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63440" y="3794760"/>
            <a:ext cx="3291840" cy="777240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663440" y="3794760"/>
            <a:ext cx="45720" cy="7772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00600" y="3886200"/>
            <a:ext cx="3063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  <a:latin typeface="맑은 고딕"/>
              </a:rPr>
              <a:t>프로필 방문 시 '창업 모집' 즉각 인지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38160" y="3794760"/>
            <a:ext cx="3291840" cy="777240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38160" y="3794760"/>
            <a:ext cx="45720" cy="7772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75320" y="3886200"/>
            <a:ext cx="3063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  <a:latin typeface="맑은 고딕"/>
              </a:rPr>
              <a:t>브랜딩·창업 명확히 분리 → 채널 전문성 확보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4846320"/>
            <a:ext cx="640080" cy="6400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48463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A1A1A"/>
                </a:solidFill>
                <a:latin typeface="맑은 고딕"/>
              </a:rPr>
              <a:t>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88720" y="4846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맑은 고딕"/>
              </a:rPr>
              <a:t>자동화된 창업 전환 깔때기(Funnel) 구축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188720" y="5440680"/>
            <a:ext cx="3291840" cy="777240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188720" y="5440680"/>
            <a:ext cx="45720" cy="7772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325880" y="5532120"/>
            <a:ext cx="3063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  <a:latin typeface="맑은 고딕"/>
              </a:rPr>
              <a:t>재미 콘텐츠로 유입 → 자연스러운 창업 노출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663440" y="5440680"/>
            <a:ext cx="3291840" cy="777240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663440" y="5440680"/>
            <a:ext cx="45720" cy="7772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800600" y="5532120"/>
            <a:ext cx="3063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  <a:latin typeface="맑은 고딕"/>
              </a:rPr>
              <a:t>숏폼 기반 '온라인 창업 설명회' 상시 운영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138160" y="5440680"/>
            <a:ext cx="3291840" cy="777240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138160" y="5440680"/>
            <a:ext cx="45720" cy="7772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75320" y="5532120"/>
            <a:ext cx="3063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  <a:latin typeface="맑은 고딕"/>
              </a:rPr>
              <a:t>저관여 유입 → 고관여 창업 문의로 전환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16736"/>
            <a:ext cx="12188952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D700"/>
                </a:solidFill>
                <a:latin typeface="맑은 고딕"/>
              </a:rPr>
              <a:t>06  최종 기대효과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자동화 창업 전환 깔때기 (Funnel)</a:t>
            </a:r>
          </a:p>
        </p:txBody>
      </p:sp>
      <p:sp>
        <p:nvSpPr>
          <p:cNvPr id="7" name="Rectangle 6"/>
          <p:cNvSpPr/>
          <p:nvPr/>
        </p:nvSpPr>
        <p:spPr>
          <a:xfrm>
            <a:off x="1979676" y="1554480"/>
            <a:ext cx="8229600" cy="914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53996" y="160020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맑은 고딕"/>
              </a:rPr>
              <a:t>STEP 1  |  브랜딩 콘텐츠 노출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53996" y="201168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맑은 고딕"/>
              </a:rPr>
              <a:t>공감 밈 / 상황극 → 자연스러운 팔로우 &amp; 유입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08276" y="2651760"/>
            <a:ext cx="7772400" cy="914400"/>
          </a:xfrm>
          <a:prstGeom prst="rect">
            <a:avLst/>
          </a:prstGeom>
          <a:solidFill>
            <a:srgbClr val="E5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82596" y="2697480"/>
            <a:ext cx="7406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맑은 고딕"/>
              </a:rPr>
              <a:t>STEP 2  |  프로필 방문 &amp; 피드 탐색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82596" y="3108960"/>
            <a:ext cx="7406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맑은 고딕"/>
              </a:rPr>
              <a:t>3열 구조에서 창업 라인 자연 노출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36876" y="3749040"/>
            <a:ext cx="7315200" cy="914400"/>
          </a:xfrm>
          <a:prstGeom prst="rect">
            <a:avLst/>
          </a:prstGeom>
          <a:solidFill>
            <a:srgbClr val="CC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11196" y="3794760"/>
            <a:ext cx="6949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맑은 고딕"/>
              </a:rPr>
              <a:t>STEP 3  |  창업 콘텐츠 시청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11196" y="4206240"/>
            <a:ext cx="6949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맑은 고딕"/>
              </a:rPr>
              <a:t>자극 카피 → 매장 영상 → 보조 메시지 흡수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65476" y="4846320"/>
            <a:ext cx="6858000" cy="914400"/>
          </a:xfrm>
          <a:prstGeom prst="rect">
            <a:avLst/>
          </a:prstGeom>
          <a:solidFill>
            <a:srgbClr val="AA8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39796" y="4892040"/>
            <a:ext cx="6492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STEP 4  |  창업 문의 전환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39796" y="5303520"/>
            <a:ext cx="6492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DDDDD"/>
                </a:solidFill>
                <a:latin typeface="맑은 고딕"/>
              </a:rPr>
              <a:t>링크 클릭 / DM / 전화 → 실제 창업 상담 연결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5852160"/>
            <a:ext cx="10332720" cy="6858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852160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1A1A"/>
                </a:solidFill>
                <a:latin typeface="맑은 고딕"/>
              </a:rPr>
              <a:t>"브랜딩으로 끌어오고  →  가운데에서 창업으로 전환시키는 구조"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맑은 고딕"/>
              </a:rPr>
              <a:t>실행 로드맵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1188720"/>
            <a:ext cx="2651760" cy="914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18872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1A1A"/>
                </a:solidFill>
                <a:latin typeface="맑은 고딕"/>
              </a:rPr>
              <a:t>PHASE 1
1~2주차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2103120"/>
            <a:ext cx="2651760" cy="50292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10312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피드 세팅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40" y="2697480"/>
            <a:ext cx="2651760" cy="59436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05840" y="2697480"/>
            <a:ext cx="45720" cy="5943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27889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맑은 고딕"/>
              </a:rPr>
              <a:t>3열 구조 피드 레이아웃 확정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5840" y="3383280"/>
            <a:ext cx="2651760" cy="59436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05840" y="3383280"/>
            <a:ext cx="45720" cy="5943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34747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맑은 고딕"/>
              </a:rPr>
              <a:t>브랜딩 콘텐츠 10개 선제작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5840" y="4069080"/>
            <a:ext cx="2651760" cy="59436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05840" y="4069080"/>
            <a:ext cx="45720" cy="5943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41605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맑은 고딕"/>
              </a:rPr>
              <a:t>창업 포맷 템플릿 3종 제작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58768" y="1188720"/>
            <a:ext cx="2651760" cy="914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58768" y="118872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1A1A"/>
                </a:solidFill>
                <a:latin typeface="맑은 고딕"/>
              </a:rPr>
              <a:t>PHASE 2
3~4주차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58768" y="2103120"/>
            <a:ext cx="2651760" cy="50292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58768" y="210312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콘텐츠 런칭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58768" y="2697480"/>
            <a:ext cx="2651760" cy="59436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858768" y="2697480"/>
            <a:ext cx="45720" cy="5943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95928" y="27889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맑은 고딕"/>
              </a:rPr>
              <a:t>주 3회 이상 업로드 루틴 구축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58768" y="3383280"/>
            <a:ext cx="2651760" cy="59436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858768" y="3383280"/>
            <a:ext cx="45720" cy="5943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995928" y="34747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맑은 고딕"/>
              </a:rPr>
              <a:t>브랜딩 2 : 창업 1 비율 유지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858768" y="4069080"/>
            <a:ext cx="2651760" cy="59436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858768" y="4069080"/>
            <a:ext cx="45720" cy="5943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95928" y="41605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맑은 고딕"/>
              </a:rPr>
              <a:t>해시태그 전략 적용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711696" y="1188720"/>
            <a:ext cx="2651760" cy="914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11696" y="118872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1A1A"/>
                </a:solidFill>
                <a:latin typeface="맑은 고딕"/>
              </a:rPr>
              <a:t>PHASE 3
5~8주차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11696" y="2103120"/>
            <a:ext cx="2651760" cy="50292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11696" y="210312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전환 최적화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711696" y="2697480"/>
            <a:ext cx="2651760" cy="59436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711696" y="2697480"/>
            <a:ext cx="45720" cy="5943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48856" y="27889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맑은 고딕"/>
              </a:rPr>
              <a:t>창업 문의 전환율 데이터 수집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711696" y="3383280"/>
            <a:ext cx="2651760" cy="59436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711696" y="3383280"/>
            <a:ext cx="45720" cy="5943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48856" y="34747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맑은 고딕"/>
              </a:rPr>
              <a:t>고반응 콘텐츠 유형 분석 &amp; 강화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711696" y="4069080"/>
            <a:ext cx="2651760" cy="59436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711696" y="4069080"/>
            <a:ext cx="45720" cy="5943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48856" y="41605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맑은 고딕"/>
              </a:rPr>
              <a:t>CTA 메시지 A/B 테스트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564624" y="1188720"/>
            <a:ext cx="2651760" cy="914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564624" y="118872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1A1A"/>
                </a:solidFill>
                <a:latin typeface="맑은 고딕"/>
              </a:rPr>
              <a:t>PHASE 4
9주차~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564624" y="2103120"/>
            <a:ext cx="2651760" cy="50292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564624" y="210312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자동화 완성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564624" y="2697480"/>
            <a:ext cx="2651760" cy="59436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564624" y="2697480"/>
            <a:ext cx="45720" cy="5943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701784" y="27889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맑은 고딕"/>
              </a:rPr>
              <a:t>콘텐츠 제작 파이프라인 정착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564624" y="3383280"/>
            <a:ext cx="2651760" cy="59436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564624" y="3383280"/>
            <a:ext cx="45720" cy="5943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701784" y="34747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맑은 고딕"/>
              </a:rPr>
              <a:t>월간 성과 리포트 체계화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564624" y="4069080"/>
            <a:ext cx="2651760" cy="59436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564624" y="4069080"/>
            <a:ext cx="45720" cy="5943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701784" y="41605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맑은 고딕"/>
              </a:rPr>
              <a:t>창업 설명회 연계 캠페인 운영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05840" y="61264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AAAAA"/>
                </a:solidFill>
                <a:latin typeface="맑은 고딕"/>
              </a:rPr>
              <a:t>체계적인 단계별 실행으로 SNS 채널을 창업 전환 머신으로 성장시킵니다.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